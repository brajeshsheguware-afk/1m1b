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The Seasons Bold" charset="1" panose="00000000000000000000"/>
      <p:regular r:id="rId22"/>
    </p:embeddedFont>
    <p:embeddedFont>
      <p:font typeface="Inclusive Sans" charset="1" panose="00000000000000000000"/>
      <p:regular r:id="rId23"/>
    </p:embeddedFont>
    <p:embeddedFont>
      <p:font typeface="The Seasons" charset="1" panose="00000000000000000000"/>
      <p:regular r:id="rId24"/>
    </p:embeddedFont>
    <p:embeddedFont>
      <p:font typeface="Inclusive Sans Bold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70890" y="5585458"/>
            <a:ext cx="11641667" cy="5143500"/>
          </a:xfrm>
          <a:custGeom>
            <a:avLst/>
            <a:gdLst/>
            <a:ahLst/>
            <a:cxnLst/>
            <a:rect r="r" b="b" t="t" l="l"/>
            <a:pathLst>
              <a:path h="5143500" w="11641667">
                <a:moveTo>
                  <a:pt x="0" y="0"/>
                </a:moveTo>
                <a:lnTo>
                  <a:pt x="11641666" y="0"/>
                </a:lnTo>
                <a:lnTo>
                  <a:pt x="1164166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24524" y="6315215"/>
            <a:ext cx="4846366" cy="174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6"/>
              </a:lnSpc>
            </a:pPr>
            <a:r>
              <a:rPr lang="en-US" sz="2461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Presented By: K.Brajesh Sheguware</a:t>
            </a:r>
          </a:p>
          <a:p>
            <a:pPr algn="l">
              <a:lnSpc>
                <a:spcPts val="3446"/>
              </a:lnSpc>
            </a:pPr>
            <a:r>
              <a:rPr lang="en-US" sz="2461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Department: II BCA</a:t>
            </a:r>
          </a:p>
          <a:p>
            <a:pPr algn="l">
              <a:lnSpc>
                <a:spcPts val="3446"/>
              </a:lnSpc>
              <a:spcBef>
                <a:spcPct val="0"/>
              </a:spcBef>
            </a:pPr>
            <a:r>
              <a:rPr lang="en-US" b="true" sz="246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College Name: Kamaraj College, Thoothukudi-628002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2283" y="4587242"/>
            <a:ext cx="15857690" cy="99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0"/>
              </a:lnSpc>
              <a:spcBef>
                <a:spcPct val="0"/>
              </a:spcBef>
            </a:pPr>
            <a:r>
              <a:rPr lang="en-US" b="true" sz="570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1M1B AI for Sustainability Virtual Internship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36796" y="838200"/>
            <a:ext cx="15442926" cy="321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40"/>
              </a:lnSpc>
            </a:pPr>
            <a:r>
              <a:rPr lang="en-US" sz="9100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Sustainable Public Transport Assistant Using AI/ML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21228" y="-505055"/>
            <a:ext cx="11363840" cy="7706750"/>
          </a:xfrm>
          <a:custGeom>
            <a:avLst/>
            <a:gdLst/>
            <a:ahLst/>
            <a:cxnLst/>
            <a:rect r="r" b="b" t="t" l="l"/>
            <a:pathLst>
              <a:path h="7706750" w="11363840">
                <a:moveTo>
                  <a:pt x="0" y="0"/>
                </a:moveTo>
                <a:lnTo>
                  <a:pt x="11363840" y="0"/>
                </a:lnTo>
                <a:lnTo>
                  <a:pt x="11363840" y="7706750"/>
                </a:lnTo>
                <a:lnTo>
                  <a:pt x="0" y="770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42612" y="2149778"/>
            <a:ext cx="1207766" cy="1069422"/>
          </a:xfrm>
          <a:custGeom>
            <a:avLst/>
            <a:gdLst/>
            <a:ahLst/>
            <a:cxnLst/>
            <a:rect r="r" b="b" t="t" l="l"/>
            <a:pathLst>
              <a:path h="1069422" w="1207766">
                <a:moveTo>
                  <a:pt x="0" y="0"/>
                </a:moveTo>
                <a:lnTo>
                  <a:pt x="1207767" y="0"/>
                </a:lnTo>
                <a:lnTo>
                  <a:pt x="1207767" y="1069422"/>
                </a:lnTo>
                <a:lnTo>
                  <a:pt x="0" y="10694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822157" y="1486890"/>
            <a:ext cx="7437143" cy="2404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Primary SDG 11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Sustainable Cities and Communities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Improve urban mobility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Enhance public transportation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Reduce traffic congestion</a:t>
            </a:r>
          </a:p>
          <a:p>
            <a:pPr algn="just">
              <a:lnSpc>
                <a:spcPts val="318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46662" y="6187608"/>
            <a:ext cx="6489571" cy="2123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7"/>
              </a:lnSpc>
            </a:pPr>
            <a:r>
              <a:rPr lang="en-US" sz="9667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SDG Alignment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142612" y="6331866"/>
            <a:ext cx="1207766" cy="1069422"/>
          </a:xfrm>
          <a:custGeom>
            <a:avLst/>
            <a:gdLst/>
            <a:ahLst/>
            <a:cxnLst/>
            <a:rect r="r" b="b" t="t" l="l"/>
            <a:pathLst>
              <a:path h="1069422" w="1207766">
                <a:moveTo>
                  <a:pt x="0" y="0"/>
                </a:moveTo>
                <a:lnTo>
                  <a:pt x="1207767" y="0"/>
                </a:lnTo>
                <a:lnTo>
                  <a:pt x="1207767" y="1069422"/>
                </a:lnTo>
                <a:lnTo>
                  <a:pt x="0" y="10694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39997" y="5573251"/>
            <a:ext cx="7437143" cy="2404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Secondary SDG 13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Climate Action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Reduce carbon emissions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Promote eco-friendly transportation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Support sustainable development</a:t>
            </a:r>
          </a:p>
          <a:p>
            <a:pPr algn="just">
              <a:lnSpc>
                <a:spcPts val="3184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616210">
            <a:off x="10012925" y="-1365754"/>
            <a:ext cx="12740619" cy="8640456"/>
          </a:xfrm>
          <a:custGeom>
            <a:avLst/>
            <a:gdLst/>
            <a:ahLst/>
            <a:cxnLst/>
            <a:rect r="r" b="b" t="t" l="l"/>
            <a:pathLst>
              <a:path h="8640456" w="12740619">
                <a:moveTo>
                  <a:pt x="0" y="0"/>
                </a:moveTo>
                <a:lnTo>
                  <a:pt x="12740619" y="0"/>
                </a:lnTo>
                <a:lnTo>
                  <a:pt x="12740619" y="8640456"/>
                </a:lnTo>
                <a:lnTo>
                  <a:pt x="0" y="8640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5017" y="3495253"/>
            <a:ext cx="1372259" cy="870761"/>
          </a:xfrm>
          <a:custGeom>
            <a:avLst/>
            <a:gdLst/>
            <a:ahLst/>
            <a:cxnLst/>
            <a:rect r="r" b="b" t="t" l="l"/>
            <a:pathLst>
              <a:path h="870761" w="1372259">
                <a:moveTo>
                  <a:pt x="0" y="0"/>
                </a:moveTo>
                <a:lnTo>
                  <a:pt x="1372259" y="0"/>
                </a:lnTo>
                <a:lnTo>
                  <a:pt x="1372259" y="870761"/>
                </a:lnTo>
                <a:lnTo>
                  <a:pt x="0" y="8707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04531" y="3391164"/>
            <a:ext cx="9829476" cy="5605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Urban transportation systems frequently experience delays due to: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Traffic congestion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Adverse weather conditions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Public events and holidays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Peak-hour passenger demand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These delays reduce commuter satisfaction and encourage the use of private vehicles, leading to: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Increased traffic congestion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Higher fuel consumption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Increased carbon emissions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An intelligent AI-based solution is required to predict delays and improve travel planning.</a:t>
            </a:r>
          </a:p>
          <a:p>
            <a:pPr algn="just">
              <a:lnSpc>
                <a:spcPts val="318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365017" y="1830677"/>
            <a:ext cx="11884426" cy="112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7"/>
              </a:lnSpc>
            </a:pPr>
            <a:r>
              <a:rPr lang="en-US" sz="9667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Problem Statement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65017" y="5515194"/>
            <a:ext cx="1372259" cy="870761"/>
          </a:xfrm>
          <a:custGeom>
            <a:avLst/>
            <a:gdLst/>
            <a:ahLst/>
            <a:cxnLst/>
            <a:rect r="r" b="b" t="t" l="l"/>
            <a:pathLst>
              <a:path h="870761" w="1372259">
                <a:moveTo>
                  <a:pt x="0" y="0"/>
                </a:moveTo>
                <a:lnTo>
                  <a:pt x="1372259" y="0"/>
                </a:lnTo>
                <a:lnTo>
                  <a:pt x="1372259" y="870760"/>
                </a:lnTo>
                <a:lnTo>
                  <a:pt x="0" y="870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65017" y="7535134"/>
            <a:ext cx="1372259" cy="870761"/>
          </a:xfrm>
          <a:custGeom>
            <a:avLst/>
            <a:gdLst/>
            <a:ahLst/>
            <a:cxnLst/>
            <a:rect r="r" b="b" t="t" l="l"/>
            <a:pathLst>
              <a:path h="870761" w="1372259">
                <a:moveTo>
                  <a:pt x="0" y="0"/>
                </a:moveTo>
                <a:lnTo>
                  <a:pt x="1372259" y="0"/>
                </a:lnTo>
                <a:lnTo>
                  <a:pt x="1372259" y="870761"/>
                </a:lnTo>
                <a:lnTo>
                  <a:pt x="0" y="8707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15970" y="1487777"/>
            <a:ext cx="14656059" cy="7770523"/>
            <a:chOff x="0" y="0"/>
            <a:chExt cx="3860032" cy="20465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60032" cy="2046557"/>
            </a:xfrm>
            <a:custGeom>
              <a:avLst/>
              <a:gdLst/>
              <a:ahLst/>
              <a:cxnLst/>
              <a:rect r="r" b="b" t="t" l="l"/>
              <a:pathLst>
                <a:path h="2046557" w="3860032">
                  <a:moveTo>
                    <a:pt x="26742" y="0"/>
                  </a:moveTo>
                  <a:lnTo>
                    <a:pt x="3833290" y="0"/>
                  </a:lnTo>
                  <a:cubicBezTo>
                    <a:pt x="3840383" y="0"/>
                    <a:pt x="3847185" y="2817"/>
                    <a:pt x="3852200" y="7833"/>
                  </a:cubicBezTo>
                  <a:cubicBezTo>
                    <a:pt x="3857215" y="12848"/>
                    <a:pt x="3860032" y="19650"/>
                    <a:pt x="3860032" y="26742"/>
                  </a:cubicBezTo>
                  <a:lnTo>
                    <a:pt x="3860032" y="2019815"/>
                  </a:lnTo>
                  <a:cubicBezTo>
                    <a:pt x="3860032" y="2034585"/>
                    <a:pt x="3848059" y="2046557"/>
                    <a:pt x="3833290" y="2046557"/>
                  </a:cubicBezTo>
                  <a:lnTo>
                    <a:pt x="26742" y="2046557"/>
                  </a:lnTo>
                  <a:cubicBezTo>
                    <a:pt x="19650" y="2046557"/>
                    <a:pt x="12848" y="2043740"/>
                    <a:pt x="7833" y="2038725"/>
                  </a:cubicBezTo>
                  <a:cubicBezTo>
                    <a:pt x="2817" y="2033710"/>
                    <a:pt x="0" y="2026908"/>
                    <a:pt x="0" y="2019815"/>
                  </a:cubicBezTo>
                  <a:lnTo>
                    <a:pt x="0" y="26742"/>
                  </a:lnTo>
                  <a:cubicBezTo>
                    <a:pt x="0" y="11973"/>
                    <a:pt x="11973" y="0"/>
                    <a:pt x="26742" y="0"/>
                  </a:cubicBezTo>
                  <a:close/>
                </a:path>
              </a:pathLst>
            </a:custGeom>
            <a:solidFill>
              <a:srgbClr val="E8FAFF"/>
            </a:solidFill>
            <a:ln w="219075" cap="rnd">
              <a:solidFill>
                <a:srgbClr val="F3922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60032" cy="2084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46854" y="4256322"/>
            <a:ext cx="1498984" cy="1570364"/>
          </a:xfrm>
          <a:custGeom>
            <a:avLst/>
            <a:gdLst/>
            <a:ahLst/>
            <a:cxnLst/>
            <a:rect r="r" b="b" t="t" l="l"/>
            <a:pathLst>
              <a:path h="1570364" w="1498984">
                <a:moveTo>
                  <a:pt x="0" y="0"/>
                </a:moveTo>
                <a:lnTo>
                  <a:pt x="1498984" y="0"/>
                </a:lnTo>
                <a:lnTo>
                  <a:pt x="1498984" y="1570364"/>
                </a:lnTo>
                <a:lnTo>
                  <a:pt x="0" y="1570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58003" y="2630444"/>
            <a:ext cx="11371993" cy="112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7"/>
              </a:lnSpc>
            </a:pPr>
            <a:r>
              <a:rPr lang="en-US" sz="9667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Project Objectives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45259" y="4458729"/>
            <a:ext cx="10838454" cy="399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4"/>
              </a:lnSpc>
            </a:pPr>
            <a:r>
              <a:rPr lang="en-US" sz="3417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Main Objectives</a:t>
            </a:r>
          </a:p>
          <a:p>
            <a:pPr algn="just" marL="737790" indent="-368895" lvl="1">
              <a:lnSpc>
                <a:spcPts val="3964"/>
              </a:lnSpc>
              <a:buFont typeface="Arial"/>
              <a:buChar char="•"/>
            </a:pPr>
            <a:r>
              <a:rPr lang="en-US" sz="3417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Predict public transport delays using AI/ML.</a:t>
            </a:r>
          </a:p>
          <a:p>
            <a:pPr algn="just" marL="737790" indent="-368895" lvl="1">
              <a:lnSpc>
                <a:spcPts val="3964"/>
              </a:lnSpc>
              <a:buFont typeface="Arial"/>
              <a:buChar char="•"/>
            </a:pPr>
            <a:r>
              <a:rPr lang="en-US" sz="3417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Analyze factors affecting transportation delays.</a:t>
            </a:r>
          </a:p>
          <a:p>
            <a:pPr algn="just" marL="737790" indent="-368895" lvl="1">
              <a:lnSpc>
                <a:spcPts val="3964"/>
              </a:lnSpc>
              <a:buFont typeface="Arial"/>
              <a:buChar char="•"/>
            </a:pPr>
            <a:r>
              <a:rPr lang="en-US" sz="3417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Improve commuter travel planning.</a:t>
            </a:r>
          </a:p>
          <a:p>
            <a:pPr algn="just" marL="737790" indent="-368895" lvl="1">
              <a:lnSpc>
                <a:spcPts val="3964"/>
              </a:lnSpc>
              <a:buFont typeface="Arial"/>
              <a:buChar char="•"/>
            </a:pPr>
            <a:r>
              <a:rPr lang="en-US" sz="3417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Encourage public transport usage.</a:t>
            </a:r>
          </a:p>
          <a:p>
            <a:pPr algn="just" marL="737790" indent="-368895" lvl="1">
              <a:lnSpc>
                <a:spcPts val="3964"/>
              </a:lnSpc>
              <a:buFont typeface="Arial"/>
              <a:buChar char="•"/>
            </a:pPr>
            <a:r>
              <a:rPr lang="en-US" sz="3417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Reduce traffic congestion and carbon emissions.</a:t>
            </a:r>
          </a:p>
          <a:p>
            <a:pPr algn="just" marL="737790" indent="-368895" lvl="1">
              <a:lnSpc>
                <a:spcPts val="3964"/>
              </a:lnSpc>
              <a:buFont typeface="Arial"/>
              <a:buChar char="•"/>
            </a:pPr>
            <a:r>
              <a:rPr lang="en-US" sz="3417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Support sustainable urban transportation.</a:t>
            </a:r>
          </a:p>
          <a:p>
            <a:pPr algn="just">
              <a:lnSpc>
                <a:spcPts val="3964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520101" y="7256451"/>
            <a:ext cx="1498984" cy="1570364"/>
          </a:xfrm>
          <a:custGeom>
            <a:avLst/>
            <a:gdLst/>
            <a:ahLst/>
            <a:cxnLst/>
            <a:rect r="r" b="b" t="t" l="l"/>
            <a:pathLst>
              <a:path h="1570364" w="1498984">
                <a:moveTo>
                  <a:pt x="0" y="0"/>
                </a:moveTo>
                <a:lnTo>
                  <a:pt x="1498984" y="0"/>
                </a:lnTo>
                <a:lnTo>
                  <a:pt x="1498984" y="1570363"/>
                </a:lnTo>
                <a:lnTo>
                  <a:pt x="0" y="15703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15970" y="1487777"/>
            <a:ext cx="14656059" cy="7770523"/>
            <a:chOff x="0" y="0"/>
            <a:chExt cx="3860032" cy="20465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60032" cy="2046557"/>
            </a:xfrm>
            <a:custGeom>
              <a:avLst/>
              <a:gdLst/>
              <a:ahLst/>
              <a:cxnLst/>
              <a:rect r="r" b="b" t="t" l="l"/>
              <a:pathLst>
                <a:path h="2046557" w="3860032">
                  <a:moveTo>
                    <a:pt x="26742" y="0"/>
                  </a:moveTo>
                  <a:lnTo>
                    <a:pt x="3833290" y="0"/>
                  </a:lnTo>
                  <a:cubicBezTo>
                    <a:pt x="3840383" y="0"/>
                    <a:pt x="3847185" y="2817"/>
                    <a:pt x="3852200" y="7833"/>
                  </a:cubicBezTo>
                  <a:cubicBezTo>
                    <a:pt x="3857215" y="12848"/>
                    <a:pt x="3860032" y="19650"/>
                    <a:pt x="3860032" y="26742"/>
                  </a:cubicBezTo>
                  <a:lnTo>
                    <a:pt x="3860032" y="2019815"/>
                  </a:lnTo>
                  <a:cubicBezTo>
                    <a:pt x="3860032" y="2034585"/>
                    <a:pt x="3848059" y="2046557"/>
                    <a:pt x="3833290" y="2046557"/>
                  </a:cubicBezTo>
                  <a:lnTo>
                    <a:pt x="26742" y="2046557"/>
                  </a:lnTo>
                  <a:cubicBezTo>
                    <a:pt x="19650" y="2046557"/>
                    <a:pt x="12848" y="2043740"/>
                    <a:pt x="7833" y="2038725"/>
                  </a:cubicBezTo>
                  <a:cubicBezTo>
                    <a:pt x="2817" y="2033710"/>
                    <a:pt x="0" y="2026908"/>
                    <a:pt x="0" y="2019815"/>
                  </a:cubicBezTo>
                  <a:lnTo>
                    <a:pt x="0" y="26742"/>
                  </a:lnTo>
                  <a:cubicBezTo>
                    <a:pt x="0" y="11973"/>
                    <a:pt x="11973" y="0"/>
                    <a:pt x="26742" y="0"/>
                  </a:cubicBezTo>
                  <a:close/>
                </a:path>
              </a:pathLst>
            </a:custGeom>
            <a:solidFill>
              <a:srgbClr val="E8FAFF"/>
            </a:solidFill>
            <a:ln w="219075" cap="rnd">
              <a:solidFill>
                <a:srgbClr val="F3922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60032" cy="2084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458003" y="2119806"/>
            <a:ext cx="11371993" cy="112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7"/>
              </a:lnSpc>
            </a:pPr>
            <a:r>
              <a:rPr lang="en-US" sz="9667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Dataset Information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26215" y="3175975"/>
            <a:ext cx="7856718" cy="5605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Dataset Used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Public Transport Delays with Weather &amp; Events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Dataset Features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Transport Type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Route Information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Scheduled Arrival Time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Delay Duration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Weather Conditions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Traffic Congestion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Public Events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Holiday Information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Peak Hour Data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Target Variable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Delayed (0/1)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97906" y="5596240"/>
            <a:ext cx="10876894" cy="4588072"/>
          </a:xfrm>
          <a:custGeom>
            <a:avLst/>
            <a:gdLst/>
            <a:ahLst/>
            <a:cxnLst/>
            <a:rect r="r" b="b" t="t" l="l"/>
            <a:pathLst>
              <a:path h="4588072" w="10876894">
                <a:moveTo>
                  <a:pt x="0" y="0"/>
                </a:moveTo>
                <a:lnTo>
                  <a:pt x="10876894" y="0"/>
                </a:lnTo>
                <a:lnTo>
                  <a:pt x="10876894" y="4588072"/>
                </a:lnTo>
                <a:lnTo>
                  <a:pt x="0" y="45880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54574" y="1371600"/>
            <a:ext cx="10604013" cy="112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7"/>
              </a:lnSpc>
            </a:pPr>
            <a:r>
              <a:rPr lang="en-US" sz="9667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Proposed Solution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31398" y="4208619"/>
            <a:ext cx="8064562" cy="440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The Sustainable Public Transport Assistant uses AI and Machine Learning to: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Analyze transportation data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Predict transport delays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Identify traffic and weather impacts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Generate travel recommendations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Improve public transport efficiency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The system helps commuters make informed travel decisions and supports sustainable transportation.</a:t>
            </a:r>
          </a:p>
          <a:p>
            <a:pPr algn="just">
              <a:lnSpc>
                <a:spcPts val="3184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36399">
            <a:off x="-7141837" y="-1134714"/>
            <a:ext cx="12740619" cy="8640456"/>
          </a:xfrm>
          <a:custGeom>
            <a:avLst/>
            <a:gdLst/>
            <a:ahLst/>
            <a:cxnLst/>
            <a:rect r="r" b="b" t="t" l="l"/>
            <a:pathLst>
              <a:path h="8640456" w="12740619">
                <a:moveTo>
                  <a:pt x="0" y="0"/>
                </a:moveTo>
                <a:lnTo>
                  <a:pt x="12740620" y="0"/>
                </a:lnTo>
                <a:lnTo>
                  <a:pt x="12740620" y="8640456"/>
                </a:lnTo>
                <a:lnTo>
                  <a:pt x="0" y="8640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3461877">
            <a:off x="-5830975" y="-660414"/>
            <a:ext cx="13722583" cy="9306406"/>
          </a:xfrm>
          <a:custGeom>
            <a:avLst/>
            <a:gdLst/>
            <a:ahLst/>
            <a:cxnLst/>
            <a:rect r="r" b="b" t="t" l="l"/>
            <a:pathLst>
              <a:path h="9306406" w="13722583">
                <a:moveTo>
                  <a:pt x="13722583" y="0"/>
                </a:moveTo>
                <a:lnTo>
                  <a:pt x="0" y="0"/>
                </a:lnTo>
                <a:lnTo>
                  <a:pt x="0" y="9306406"/>
                </a:lnTo>
                <a:lnTo>
                  <a:pt x="13722583" y="9306406"/>
                </a:lnTo>
                <a:lnTo>
                  <a:pt x="137225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67322" y="3277123"/>
            <a:ext cx="1017651" cy="1110532"/>
          </a:xfrm>
          <a:custGeom>
            <a:avLst/>
            <a:gdLst/>
            <a:ahLst/>
            <a:cxnLst/>
            <a:rect r="r" b="b" t="t" l="l"/>
            <a:pathLst>
              <a:path h="1110532" w="1017651">
                <a:moveTo>
                  <a:pt x="0" y="0"/>
                </a:moveTo>
                <a:lnTo>
                  <a:pt x="1017652" y="0"/>
                </a:lnTo>
                <a:lnTo>
                  <a:pt x="1017652" y="1110533"/>
                </a:lnTo>
                <a:lnTo>
                  <a:pt x="0" y="1110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22338" y="4516459"/>
            <a:ext cx="3707619" cy="280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Data Preprocessing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Missing Value Handling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Duplicate Removal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Data Cleaning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Feature Encoding</a:t>
            </a:r>
          </a:p>
          <a:p>
            <a:pPr algn="l">
              <a:lnSpc>
                <a:spcPts val="318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230949" y="1371600"/>
            <a:ext cx="9974326" cy="2123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7"/>
              </a:lnSpc>
            </a:pPr>
            <a:r>
              <a:rPr lang="en-US" sz="9667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Exploratory Data Analysis (EDA)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37010" y="4516459"/>
            <a:ext cx="3707619" cy="5205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EDA Performed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Delay Distribution Analysis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Weather Impact Analysis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Traffic Congestion Analysis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Peak Hour Analysis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Transport Type Analysis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Correlation Analysis</a:t>
            </a:r>
          </a:p>
          <a:p>
            <a:pPr algn="l">
              <a:lnSpc>
                <a:spcPts val="318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551681" y="4516459"/>
            <a:ext cx="3707619" cy="280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Visualization Tools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Histograms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Bar Charts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Box Plots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Heatmaps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Scatter Plots</a:t>
            </a:r>
          </a:p>
          <a:p>
            <a:pPr algn="l">
              <a:lnSpc>
                <a:spcPts val="3184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581994" y="3277123"/>
            <a:ext cx="1017651" cy="1110532"/>
          </a:xfrm>
          <a:custGeom>
            <a:avLst/>
            <a:gdLst/>
            <a:ahLst/>
            <a:cxnLst/>
            <a:rect r="r" b="b" t="t" l="l"/>
            <a:pathLst>
              <a:path h="1110532" w="1017651">
                <a:moveTo>
                  <a:pt x="0" y="0"/>
                </a:moveTo>
                <a:lnTo>
                  <a:pt x="1017651" y="0"/>
                </a:lnTo>
                <a:lnTo>
                  <a:pt x="1017651" y="1110533"/>
                </a:lnTo>
                <a:lnTo>
                  <a:pt x="0" y="1110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896665" y="3277123"/>
            <a:ext cx="1017651" cy="1110532"/>
          </a:xfrm>
          <a:custGeom>
            <a:avLst/>
            <a:gdLst/>
            <a:ahLst/>
            <a:cxnLst/>
            <a:rect r="r" b="b" t="t" l="l"/>
            <a:pathLst>
              <a:path h="1110532" w="1017651">
                <a:moveTo>
                  <a:pt x="0" y="0"/>
                </a:moveTo>
                <a:lnTo>
                  <a:pt x="1017651" y="0"/>
                </a:lnTo>
                <a:lnTo>
                  <a:pt x="1017651" y="1110533"/>
                </a:lnTo>
                <a:lnTo>
                  <a:pt x="0" y="1110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736795">
            <a:off x="7815819" y="5581715"/>
            <a:ext cx="10842477" cy="7353171"/>
          </a:xfrm>
          <a:custGeom>
            <a:avLst/>
            <a:gdLst/>
            <a:ahLst/>
            <a:cxnLst/>
            <a:rect r="r" b="b" t="t" l="l"/>
            <a:pathLst>
              <a:path h="7353171" w="10842477">
                <a:moveTo>
                  <a:pt x="10842477" y="0"/>
                </a:moveTo>
                <a:lnTo>
                  <a:pt x="0" y="0"/>
                </a:lnTo>
                <a:lnTo>
                  <a:pt x="0" y="7353170"/>
                </a:lnTo>
                <a:lnTo>
                  <a:pt x="10842477" y="7353170"/>
                </a:lnTo>
                <a:lnTo>
                  <a:pt x="108424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6635115"/>
            <a:ext cx="10876894" cy="4588072"/>
          </a:xfrm>
          <a:custGeom>
            <a:avLst/>
            <a:gdLst/>
            <a:ahLst/>
            <a:cxnLst/>
            <a:rect r="r" b="b" t="t" l="l"/>
            <a:pathLst>
              <a:path h="4588072" w="10876894">
                <a:moveTo>
                  <a:pt x="10876894" y="0"/>
                </a:moveTo>
                <a:lnTo>
                  <a:pt x="0" y="0"/>
                </a:lnTo>
                <a:lnTo>
                  <a:pt x="0" y="4588072"/>
                </a:lnTo>
                <a:lnTo>
                  <a:pt x="10876894" y="4588072"/>
                </a:lnTo>
                <a:lnTo>
                  <a:pt x="1087689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37023" y="1687504"/>
            <a:ext cx="4357677" cy="4592254"/>
          </a:xfrm>
          <a:custGeom>
            <a:avLst/>
            <a:gdLst/>
            <a:ahLst/>
            <a:cxnLst/>
            <a:rect r="r" b="b" t="t" l="l"/>
            <a:pathLst>
              <a:path h="4592254" w="4357677">
                <a:moveTo>
                  <a:pt x="0" y="0"/>
                </a:moveTo>
                <a:lnTo>
                  <a:pt x="4357676" y="0"/>
                </a:lnTo>
                <a:lnTo>
                  <a:pt x="4357676" y="4592254"/>
                </a:lnTo>
                <a:lnTo>
                  <a:pt x="0" y="4592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367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45360" y="1371600"/>
            <a:ext cx="14061782" cy="112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7"/>
              </a:lnSpc>
            </a:pPr>
            <a:r>
              <a:rPr lang="en-US" sz="9667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Machine Learning Models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02535" y="2872051"/>
            <a:ext cx="9435486" cy="4004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84"/>
              </a:lnSpc>
            </a:pPr>
            <a:r>
              <a:rPr lang="en-US" sz="2745" b="true">
                <a:solidFill>
                  <a:srgbClr val="000000"/>
                </a:solidFill>
                <a:latin typeface="Inclusive Sans Bold"/>
                <a:ea typeface="Inclusive Sans Bold"/>
                <a:cs typeface="Inclusive Sans Bold"/>
                <a:sym typeface="Inclusive Sans Bold"/>
              </a:rPr>
              <a:t>Classification Models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Logistic Regression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   </a:t>
            </a: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Predicts whether transport will be delayed.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Decision Tree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   </a:t>
            </a: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Identifies delay-causing factors.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Random Forest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   </a:t>
            </a: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Provides accurate delay predictions.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Target Variable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   </a:t>
            </a: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Delayed = 0 or 1</a:t>
            </a:r>
          </a:p>
          <a:p>
            <a:pPr algn="just">
              <a:lnSpc>
                <a:spcPts val="3184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98100" y="5143500"/>
            <a:ext cx="11641667" cy="5143500"/>
          </a:xfrm>
          <a:custGeom>
            <a:avLst/>
            <a:gdLst/>
            <a:ahLst/>
            <a:cxnLst/>
            <a:rect r="r" b="b" t="t" l="l"/>
            <a:pathLst>
              <a:path h="5143500" w="11641667">
                <a:moveTo>
                  <a:pt x="0" y="0"/>
                </a:moveTo>
                <a:lnTo>
                  <a:pt x="11641666" y="0"/>
                </a:lnTo>
                <a:lnTo>
                  <a:pt x="1164166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777960" y="1028700"/>
            <a:ext cx="7481340" cy="8172949"/>
            <a:chOff x="0" y="0"/>
            <a:chExt cx="1205406" cy="13168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05406" cy="1316839"/>
            </a:xfrm>
            <a:custGeom>
              <a:avLst/>
              <a:gdLst/>
              <a:ahLst/>
              <a:cxnLst/>
              <a:rect r="r" b="b" t="t" l="l"/>
              <a:pathLst>
                <a:path h="1316839" w="1205406">
                  <a:moveTo>
                    <a:pt x="103483" y="0"/>
                  </a:moveTo>
                  <a:lnTo>
                    <a:pt x="1101923" y="0"/>
                  </a:lnTo>
                  <a:cubicBezTo>
                    <a:pt x="1129369" y="0"/>
                    <a:pt x="1155690" y="10903"/>
                    <a:pt x="1175097" y="30309"/>
                  </a:cubicBezTo>
                  <a:cubicBezTo>
                    <a:pt x="1194504" y="49716"/>
                    <a:pt x="1205406" y="76038"/>
                    <a:pt x="1205406" y="103483"/>
                  </a:cubicBezTo>
                  <a:lnTo>
                    <a:pt x="1205406" y="1213356"/>
                  </a:lnTo>
                  <a:cubicBezTo>
                    <a:pt x="1205406" y="1240802"/>
                    <a:pt x="1194504" y="1267123"/>
                    <a:pt x="1175097" y="1286530"/>
                  </a:cubicBezTo>
                  <a:cubicBezTo>
                    <a:pt x="1155690" y="1305937"/>
                    <a:pt x="1129369" y="1316839"/>
                    <a:pt x="1101923" y="1316839"/>
                  </a:cubicBezTo>
                  <a:lnTo>
                    <a:pt x="103483" y="1316839"/>
                  </a:lnTo>
                  <a:cubicBezTo>
                    <a:pt x="76038" y="1316839"/>
                    <a:pt x="49716" y="1305937"/>
                    <a:pt x="30309" y="1286530"/>
                  </a:cubicBezTo>
                  <a:cubicBezTo>
                    <a:pt x="10903" y="1267123"/>
                    <a:pt x="0" y="1240802"/>
                    <a:pt x="0" y="1213356"/>
                  </a:cubicBezTo>
                  <a:lnTo>
                    <a:pt x="0" y="103483"/>
                  </a:lnTo>
                  <a:cubicBezTo>
                    <a:pt x="0" y="76038"/>
                    <a:pt x="10903" y="49716"/>
                    <a:pt x="30309" y="30309"/>
                  </a:cubicBezTo>
                  <a:cubicBezTo>
                    <a:pt x="49716" y="10903"/>
                    <a:pt x="76038" y="0"/>
                    <a:pt x="10348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5677" r="0" b="-5677"/>
              </a:stretch>
            </a:blipFill>
            <a:ln w="104775" cap="rnd">
              <a:solidFill>
                <a:srgbClr val="F39227"/>
              </a:solidFill>
              <a:prstDash val="solid"/>
              <a:round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340236" y="4334820"/>
            <a:ext cx="7908187" cy="112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7"/>
              </a:lnSpc>
            </a:pPr>
            <a:r>
              <a:rPr lang="en-US" sz="9667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WORK FLOW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15970" y="4127465"/>
            <a:ext cx="14656059" cy="5130835"/>
            <a:chOff x="0" y="0"/>
            <a:chExt cx="3860032" cy="13513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60032" cy="1351331"/>
            </a:xfrm>
            <a:custGeom>
              <a:avLst/>
              <a:gdLst/>
              <a:ahLst/>
              <a:cxnLst/>
              <a:rect r="r" b="b" t="t" l="l"/>
              <a:pathLst>
                <a:path h="1351331" w="3860032">
                  <a:moveTo>
                    <a:pt x="26742" y="0"/>
                  </a:moveTo>
                  <a:lnTo>
                    <a:pt x="3833290" y="0"/>
                  </a:lnTo>
                  <a:cubicBezTo>
                    <a:pt x="3840383" y="0"/>
                    <a:pt x="3847185" y="2817"/>
                    <a:pt x="3852200" y="7833"/>
                  </a:cubicBezTo>
                  <a:cubicBezTo>
                    <a:pt x="3857215" y="12848"/>
                    <a:pt x="3860032" y="19650"/>
                    <a:pt x="3860032" y="26742"/>
                  </a:cubicBezTo>
                  <a:lnTo>
                    <a:pt x="3860032" y="1324589"/>
                  </a:lnTo>
                  <a:cubicBezTo>
                    <a:pt x="3860032" y="1339358"/>
                    <a:pt x="3848059" y="1351331"/>
                    <a:pt x="3833290" y="1351331"/>
                  </a:cubicBezTo>
                  <a:lnTo>
                    <a:pt x="26742" y="1351331"/>
                  </a:lnTo>
                  <a:cubicBezTo>
                    <a:pt x="11973" y="1351331"/>
                    <a:pt x="0" y="1339358"/>
                    <a:pt x="0" y="1324589"/>
                  </a:cubicBezTo>
                  <a:lnTo>
                    <a:pt x="0" y="26742"/>
                  </a:lnTo>
                  <a:cubicBezTo>
                    <a:pt x="0" y="11973"/>
                    <a:pt x="11973" y="0"/>
                    <a:pt x="26742" y="0"/>
                  </a:cubicBezTo>
                  <a:close/>
                </a:path>
              </a:pathLst>
            </a:custGeom>
            <a:solidFill>
              <a:srgbClr val="E8FAFF"/>
            </a:solidFill>
            <a:ln w="219075" cap="rnd">
              <a:solidFill>
                <a:srgbClr val="F3922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60032" cy="1389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15970" y="1487777"/>
            <a:ext cx="14656059" cy="2266463"/>
            <a:chOff x="0" y="0"/>
            <a:chExt cx="3860032" cy="596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60032" cy="596929"/>
            </a:xfrm>
            <a:custGeom>
              <a:avLst/>
              <a:gdLst/>
              <a:ahLst/>
              <a:cxnLst/>
              <a:rect r="r" b="b" t="t" l="l"/>
              <a:pathLst>
                <a:path h="596929" w="3860032">
                  <a:moveTo>
                    <a:pt x="26742" y="0"/>
                  </a:moveTo>
                  <a:lnTo>
                    <a:pt x="3833290" y="0"/>
                  </a:lnTo>
                  <a:cubicBezTo>
                    <a:pt x="3840383" y="0"/>
                    <a:pt x="3847185" y="2817"/>
                    <a:pt x="3852200" y="7833"/>
                  </a:cubicBezTo>
                  <a:cubicBezTo>
                    <a:pt x="3857215" y="12848"/>
                    <a:pt x="3860032" y="19650"/>
                    <a:pt x="3860032" y="26742"/>
                  </a:cubicBezTo>
                  <a:lnTo>
                    <a:pt x="3860032" y="570186"/>
                  </a:lnTo>
                  <a:cubicBezTo>
                    <a:pt x="3860032" y="577279"/>
                    <a:pt x="3857215" y="584081"/>
                    <a:pt x="3852200" y="589096"/>
                  </a:cubicBezTo>
                  <a:cubicBezTo>
                    <a:pt x="3847185" y="594111"/>
                    <a:pt x="3840383" y="596929"/>
                    <a:pt x="3833290" y="596929"/>
                  </a:cubicBezTo>
                  <a:lnTo>
                    <a:pt x="26742" y="596929"/>
                  </a:lnTo>
                  <a:cubicBezTo>
                    <a:pt x="11973" y="596929"/>
                    <a:pt x="0" y="584956"/>
                    <a:pt x="0" y="570186"/>
                  </a:cubicBezTo>
                  <a:lnTo>
                    <a:pt x="0" y="26742"/>
                  </a:lnTo>
                  <a:cubicBezTo>
                    <a:pt x="0" y="11973"/>
                    <a:pt x="11973" y="0"/>
                    <a:pt x="26742" y="0"/>
                  </a:cubicBezTo>
                  <a:close/>
                </a:path>
              </a:pathLst>
            </a:custGeom>
            <a:solidFill>
              <a:srgbClr val="E8FAFF"/>
            </a:solidFill>
            <a:ln w="219075" cap="rnd">
              <a:solidFill>
                <a:srgbClr val="F39227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60032" cy="635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27731" y="4821740"/>
            <a:ext cx="1326216" cy="1389370"/>
          </a:xfrm>
          <a:custGeom>
            <a:avLst/>
            <a:gdLst/>
            <a:ahLst/>
            <a:cxnLst/>
            <a:rect r="r" b="b" t="t" l="l"/>
            <a:pathLst>
              <a:path h="1389370" w="1326216">
                <a:moveTo>
                  <a:pt x="0" y="0"/>
                </a:moveTo>
                <a:lnTo>
                  <a:pt x="1326217" y="0"/>
                </a:lnTo>
                <a:lnTo>
                  <a:pt x="1326217" y="1389370"/>
                </a:lnTo>
                <a:lnTo>
                  <a:pt x="0" y="13893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55906" y="2288147"/>
            <a:ext cx="14376187" cy="96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9"/>
              </a:lnSpc>
            </a:pPr>
            <a:r>
              <a:rPr lang="en-US" sz="8268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Responsible AI Considerations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98264" y="4695184"/>
            <a:ext cx="11265946" cy="4004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Fairness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 </a:t>
            </a: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The model avoids bias by using transportation-related data only.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Transparency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    </a:t>
            </a: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Prediction methods and results can be explained to users.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Privacy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   </a:t>
            </a: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No personal or sensitive user information is collected.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Ethical Use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  </a:t>
            </a: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The system is designed solely for transportation planning and sustainability purposes.</a:t>
            </a:r>
          </a:p>
          <a:p>
            <a:pPr algn="just">
              <a:lnSpc>
                <a:spcPts val="3184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145813" y="7054771"/>
            <a:ext cx="1326216" cy="1389370"/>
          </a:xfrm>
          <a:custGeom>
            <a:avLst/>
            <a:gdLst/>
            <a:ahLst/>
            <a:cxnLst/>
            <a:rect r="r" b="b" t="t" l="l"/>
            <a:pathLst>
              <a:path h="1389370" w="1326216">
                <a:moveTo>
                  <a:pt x="0" y="0"/>
                </a:moveTo>
                <a:lnTo>
                  <a:pt x="1326217" y="0"/>
                </a:lnTo>
                <a:lnTo>
                  <a:pt x="1326217" y="1389369"/>
                </a:lnTo>
                <a:lnTo>
                  <a:pt x="0" y="13893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3461877">
            <a:off x="-5830975" y="-660414"/>
            <a:ext cx="13722583" cy="9306406"/>
          </a:xfrm>
          <a:custGeom>
            <a:avLst/>
            <a:gdLst/>
            <a:ahLst/>
            <a:cxnLst/>
            <a:rect r="r" b="b" t="t" l="l"/>
            <a:pathLst>
              <a:path h="9306406" w="13722583">
                <a:moveTo>
                  <a:pt x="13722583" y="0"/>
                </a:moveTo>
                <a:lnTo>
                  <a:pt x="0" y="0"/>
                </a:lnTo>
                <a:lnTo>
                  <a:pt x="0" y="9306406"/>
                </a:lnTo>
                <a:lnTo>
                  <a:pt x="13722583" y="9306406"/>
                </a:lnTo>
                <a:lnTo>
                  <a:pt x="137225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67322" y="3277123"/>
            <a:ext cx="1017651" cy="1110532"/>
          </a:xfrm>
          <a:custGeom>
            <a:avLst/>
            <a:gdLst/>
            <a:ahLst/>
            <a:cxnLst/>
            <a:rect r="r" b="b" t="t" l="l"/>
            <a:pathLst>
              <a:path h="1110532" w="1017651">
                <a:moveTo>
                  <a:pt x="0" y="0"/>
                </a:moveTo>
                <a:lnTo>
                  <a:pt x="1017652" y="0"/>
                </a:lnTo>
                <a:lnTo>
                  <a:pt x="1017652" y="1110533"/>
                </a:lnTo>
                <a:lnTo>
                  <a:pt x="0" y="1110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22338" y="4516459"/>
            <a:ext cx="3707619" cy="3204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Environmental Impact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Reduced carbon emissions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Lower fuel consumption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Improved air quality</a:t>
            </a:r>
          </a:p>
          <a:p>
            <a:pPr algn="l">
              <a:lnSpc>
                <a:spcPts val="318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230949" y="1371600"/>
            <a:ext cx="9974326" cy="112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7"/>
              </a:lnSpc>
            </a:pPr>
            <a:r>
              <a:rPr lang="en-US" sz="9667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Expected Impact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37010" y="4516459"/>
            <a:ext cx="3707619" cy="3604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Social Impact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Better commuter experience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Reduced waiting time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Increased public transport reliability</a:t>
            </a:r>
          </a:p>
          <a:p>
            <a:pPr algn="l">
              <a:lnSpc>
                <a:spcPts val="318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551681" y="4516459"/>
            <a:ext cx="3707619" cy="3204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Economic Impact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Reduced transportation costs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Improved operational efficiency</a:t>
            </a:r>
          </a:p>
          <a:p>
            <a:pPr algn="l">
              <a:lnSpc>
                <a:spcPts val="3184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581994" y="3277123"/>
            <a:ext cx="1017651" cy="1110532"/>
          </a:xfrm>
          <a:custGeom>
            <a:avLst/>
            <a:gdLst/>
            <a:ahLst/>
            <a:cxnLst/>
            <a:rect r="r" b="b" t="t" l="l"/>
            <a:pathLst>
              <a:path h="1110532" w="1017651">
                <a:moveTo>
                  <a:pt x="0" y="0"/>
                </a:moveTo>
                <a:lnTo>
                  <a:pt x="1017651" y="0"/>
                </a:lnTo>
                <a:lnTo>
                  <a:pt x="1017651" y="1110533"/>
                </a:lnTo>
                <a:lnTo>
                  <a:pt x="0" y="1110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896665" y="3277123"/>
            <a:ext cx="1017651" cy="1110532"/>
          </a:xfrm>
          <a:custGeom>
            <a:avLst/>
            <a:gdLst/>
            <a:ahLst/>
            <a:cxnLst/>
            <a:rect r="r" b="b" t="t" l="l"/>
            <a:pathLst>
              <a:path h="1110532" w="1017651">
                <a:moveTo>
                  <a:pt x="0" y="0"/>
                </a:moveTo>
                <a:lnTo>
                  <a:pt x="1017651" y="0"/>
                </a:lnTo>
                <a:lnTo>
                  <a:pt x="1017651" y="1110533"/>
                </a:lnTo>
                <a:lnTo>
                  <a:pt x="0" y="1110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21228" y="-505055"/>
            <a:ext cx="11363840" cy="7706750"/>
          </a:xfrm>
          <a:custGeom>
            <a:avLst/>
            <a:gdLst/>
            <a:ahLst/>
            <a:cxnLst/>
            <a:rect r="r" b="b" t="t" l="l"/>
            <a:pathLst>
              <a:path h="7706750" w="11363840">
                <a:moveTo>
                  <a:pt x="0" y="0"/>
                </a:moveTo>
                <a:lnTo>
                  <a:pt x="11363840" y="0"/>
                </a:lnTo>
                <a:lnTo>
                  <a:pt x="11363840" y="7706750"/>
                </a:lnTo>
                <a:lnTo>
                  <a:pt x="0" y="770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11788" y="1149353"/>
            <a:ext cx="5346676" cy="7997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0"/>
              </a:lnSpc>
            </a:pPr>
            <a:r>
              <a:rPr lang="en-US" sz="365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Development Tools</a:t>
            </a:r>
          </a:p>
          <a:p>
            <a:pPr algn="just" marL="789168" indent="-394584" lvl="1">
              <a:lnSpc>
                <a:spcPts val="4240"/>
              </a:lnSpc>
              <a:buFont typeface="Arial"/>
              <a:buChar char="•"/>
            </a:pPr>
            <a:r>
              <a:rPr lang="en-US" sz="365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Google Colab</a:t>
            </a:r>
          </a:p>
          <a:p>
            <a:pPr algn="just" marL="789168" indent="-394584" lvl="1">
              <a:lnSpc>
                <a:spcPts val="4240"/>
              </a:lnSpc>
              <a:buFont typeface="Arial"/>
              <a:buChar char="•"/>
            </a:pPr>
            <a:r>
              <a:rPr lang="en-US" sz="365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VS Code</a:t>
            </a:r>
          </a:p>
          <a:p>
            <a:pPr algn="just">
              <a:lnSpc>
                <a:spcPts val="4240"/>
              </a:lnSpc>
            </a:pPr>
            <a:r>
              <a:rPr lang="en-US" sz="365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Programming Language</a:t>
            </a:r>
          </a:p>
          <a:p>
            <a:pPr algn="just" marL="789168" indent="-394584" lvl="1">
              <a:lnSpc>
                <a:spcPts val="4240"/>
              </a:lnSpc>
              <a:buFont typeface="Arial"/>
              <a:buChar char="•"/>
            </a:pPr>
            <a:r>
              <a:rPr lang="en-US" sz="365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Python</a:t>
            </a:r>
          </a:p>
          <a:p>
            <a:pPr algn="just">
              <a:lnSpc>
                <a:spcPts val="4240"/>
              </a:lnSpc>
            </a:pPr>
            <a:r>
              <a:rPr lang="en-US" sz="365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Libraries Used</a:t>
            </a:r>
          </a:p>
          <a:p>
            <a:pPr algn="just" marL="789168" indent="-394584" lvl="1">
              <a:lnSpc>
                <a:spcPts val="4240"/>
              </a:lnSpc>
              <a:buFont typeface="Arial"/>
              <a:buChar char="•"/>
            </a:pPr>
            <a:r>
              <a:rPr lang="en-US" sz="365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Pandas</a:t>
            </a:r>
          </a:p>
          <a:p>
            <a:pPr algn="just" marL="789168" indent="-394584" lvl="1">
              <a:lnSpc>
                <a:spcPts val="4240"/>
              </a:lnSpc>
              <a:buFont typeface="Arial"/>
              <a:buChar char="•"/>
            </a:pPr>
            <a:r>
              <a:rPr lang="en-US" sz="365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NumPy</a:t>
            </a:r>
          </a:p>
          <a:p>
            <a:pPr algn="just" marL="789168" indent="-394584" lvl="1">
              <a:lnSpc>
                <a:spcPts val="4240"/>
              </a:lnSpc>
              <a:buFont typeface="Arial"/>
              <a:buChar char="•"/>
            </a:pPr>
            <a:r>
              <a:rPr lang="en-US" sz="365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Matplotlib</a:t>
            </a:r>
          </a:p>
          <a:p>
            <a:pPr algn="just" marL="789168" indent="-394584" lvl="1">
              <a:lnSpc>
                <a:spcPts val="4240"/>
              </a:lnSpc>
              <a:buFont typeface="Arial"/>
              <a:buChar char="•"/>
            </a:pPr>
            <a:r>
              <a:rPr lang="en-US" sz="365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Seaborn</a:t>
            </a:r>
          </a:p>
          <a:p>
            <a:pPr algn="just" marL="789168" indent="-394584" lvl="1">
              <a:lnSpc>
                <a:spcPts val="4240"/>
              </a:lnSpc>
              <a:buFont typeface="Arial"/>
              <a:buChar char="•"/>
            </a:pPr>
            <a:r>
              <a:rPr lang="en-US" sz="365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Scikit-Learn</a:t>
            </a:r>
          </a:p>
          <a:p>
            <a:pPr algn="just">
              <a:lnSpc>
                <a:spcPts val="4240"/>
              </a:lnSpc>
            </a:pPr>
            <a:r>
              <a:rPr lang="en-US" sz="365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Frontend</a:t>
            </a:r>
          </a:p>
          <a:p>
            <a:pPr algn="just" marL="789168" indent="-394584" lvl="1">
              <a:lnSpc>
                <a:spcPts val="4240"/>
              </a:lnSpc>
              <a:buFont typeface="Arial"/>
              <a:buChar char="•"/>
            </a:pPr>
            <a:r>
              <a:rPr lang="en-US" sz="365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HTML</a:t>
            </a:r>
          </a:p>
          <a:p>
            <a:pPr algn="just" marL="789168" indent="-394584" lvl="1">
              <a:lnSpc>
                <a:spcPts val="4240"/>
              </a:lnSpc>
              <a:buFont typeface="Arial"/>
              <a:buChar char="•"/>
            </a:pPr>
            <a:r>
              <a:rPr lang="en-US" sz="365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CSS</a:t>
            </a:r>
          </a:p>
          <a:p>
            <a:pPr algn="just">
              <a:lnSpc>
                <a:spcPts val="424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25193" y="5880339"/>
            <a:ext cx="7158228" cy="2123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7"/>
              </a:lnSpc>
            </a:pPr>
            <a:r>
              <a:rPr lang="en-US" sz="9667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Tools and Technologies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729721" y="5980432"/>
            <a:ext cx="4357677" cy="4592254"/>
          </a:xfrm>
          <a:custGeom>
            <a:avLst/>
            <a:gdLst/>
            <a:ahLst/>
            <a:cxnLst/>
            <a:rect r="r" b="b" t="t" l="l"/>
            <a:pathLst>
              <a:path h="4592254" w="4357677">
                <a:moveTo>
                  <a:pt x="0" y="0"/>
                </a:moveTo>
                <a:lnTo>
                  <a:pt x="4357677" y="0"/>
                </a:lnTo>
                <a:lnTo>
                  <a:pt x="4357677" y="4592254"/>
                </a:lnTo>
                <a:lnTo>
                  <a:pt x="0" y="4592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67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02856" y="1220379"/>
            <a:ext cx="637909" cy="564839"/>
          </a:xfrm>
          <a:custGeom>
            <a:avLst/>
            <a:gdLst/>
            <a:ahLst/>
            <a:cxnLst/>
            <a:rect r="r" b="b" t="t" l="l"/>
            <a:pathLst>
              <a:path h="564839" w="637909">
                <a:moveTo>
                  <a:pt x="0" y="0"/>
                </a:moveTo>
                <a:lnTo>
                  <a:pt x="637909" y="0"/>
                </a:lnTo>
                <a:lnTo>
                  <a:pt x="637909" y="564840"/>
                </a:lnTo>
                <a:lnTo>
                  <a:pt x="0" y="5648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02856" y="2658657"/>
            <a:ext cx="637909" cy="564839"/>
          </a:xfrm>
          <a:custGeom>
            <a:avLst/>
            <a:gdLst/>
            <a:ahLst/>
            <a:cxnLst/>
            <a:rect r="r" b="b" t="t" l="l"/>
            <a:pathLst>
              <a:path h="564839" w="637909">
                <a:moveTo>
                  <a:pt x="0" y="0"/>
                </a:moveTo>
                <a:lnTo>
                  <a:pt x="637909" y="0"/>
                </a:lnTo>
                <a:lnTo>
                  <a:pt x="637909" y="564840"/>
                </a:lnTo>
                <a:lnTo>
                  <a:pt x="0" y="5648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02856" y="3839760"/>
            <a:ext cx="637909" cy="564839"/>
          </a:xfrm>
          <a:custGeom>
            <a:avLst/>
            <a:gdLst/>
            <a:ahLst/>
            <a:cxnLst/>
            <a:rect r="r" b="b" t="t" l="l"/>
            <a:pathLst>
              <a:path h="564839" w="637909">
                <a:moveTo>
                  <a:pt x="0" y="0"/>
                </a:moveTo>
                <a:lnTo>
                  <a:pt x="637909" y="0"/>
                </a:lnTo>
                <a:lnTo>
                  <a:pt x="637909" y="564839"/>
                </a:lnTo>
                <a:lnTo>
                  <a:pt x="0" y="5648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02856" y="6919275"/>
            <a:ext cx="637909" cy="564839"/>
          </a:xfrm>
          <a:custGeom>
            <a:avLst/>
            <a:gdLst/>
            <a:ahLst/>
            <a:cxnLst/>
            <a:rect r="r" b="b" t="t" l="l"/>
            <a:pathLst>
              <a:path h="564839" w="637909">
                <a:moveTo>
                  <a:pt x="0" y="0"/>
                </a:moveTo>
                <a:lnTo>
                  <a:pt x="637909" y="0"/>
                </a:lnTo>
                <a:lnTo>
                  <a:pt x="637909" y="564839"/>
                </a:lnTo>
                <a:lnTo>
                  <a:pt x="0" y="5648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3461877">
            <a:off x="-5830975" y="-660414"/>
            <a:ext cx="13722583" cy="9306406"/>
          </a:xfrm>
          <a:custGeom>
            <a:avLst/>
            <a:gdLst/>
            <a:ahLst/>
            <a:cxnLst/>
            <a:rect r="r" b="b" t="t" l="l"/>
            <a:pathLst>
              <a:path h="9306406" w="13722583">
                <a:moveTo>
                  <a:pt x="13722583" y="0"/>
                </a:moveTo>
                <a:lnTo>
                  <a:pt x="0" y="0"/>
                </a:lnTo>
                <a:lnTo>
                  <a:pt x="0" y="9306406"/>
                </a:lnTo>
                <a:lnTo>
                  <a:pt x="13722583" y="9306406"/>
                </a:lnTo>
                <a:lnTo>
                  <a:pt x="137225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67322" y="3277123"/>
            <a:ext cx="1017651" cy="1110532"/>
          </a:xfrm>
          <a:custGeom>
            <a:avLst/>
            <a:gdLst/>
            <a:ahLst/>
            <a:cxnLst/>
            <a:rect r="r" b="b" t="t" l="l"/>
            <a:pathLst>
              <a:path h="1110532" w="1017651">
                <a:moveTo>
                  <a:pt x="0" y="0"/>
                </a:moveTo>
                <a:lnTo>
                  <a:pt x="1017652" y="0"/>
                </a:lnTo>
                <a:lnTo>
                  <a:pt x="1017652" y="1110533"/>
                </a:lnTo>
                <a:lnTo>
                  <a:pt x="0" y="1110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22338" y="4516459"/>
            <a:ext cx="3707619" cy="4004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User Inputs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Transport Type (Bus / Train / Metro / Tram)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Weather Condition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Traffic Congestion Level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Peak Hour Status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Route Information</a:t>
            </a:r>
          </a:p>
          <a:p>
            <a:pPr algn="l">
              <a:lnSpc>
                <a:spcPts val="318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230949" y="1371600"/>
            <a:ext cx="9974326" cy="112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7"/>
              </a:lnSpc>
            </a:pPr>
            <a:r>
              <a:rPr lang="en-US" sz="9667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Prototype / Demo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37010" y="4516459"/>
            <a:ext cx="3707619" cy="3604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AI Processing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Data Analysis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Delay Prediction Model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Traffic Impact Analysis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Weather Impact Analysis</a:t>
            </a:r>
          </a:p>
          <a:p>
            <a:pPr algn="l">
              <a:lnSpc>
                <a:spcPts val="318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551681" y="4516459"/>
            <a:ext cx="3707619" cy="3204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System Output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Predicted Delay Time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Delay Probability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Traffic Status</a:t>
            </a:r>
          </a:p>
          <a:p>
            <a:pPr algn="l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Travel Recommendation</a:t>
            </a:r>
          </a:p>
          <a:p>
            <a:pPr algn="l">
              <a:lnSpc>
                <a:spcPts val="3184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581994" y="3277123"/>
            <a:ext cx="1017651" cy="1110532"/>
          </a:xfrm>
          <a:custGeom>
            <a:avLst/>
            <a:gdLst/>
            <a:ahLst/>
            <a:cxnLst/>
            <a:rect r="r" b="b" t="t" l="l"/>
            <a:pathLst>
              <a:path h="1110532" w="1017651">
                <a:moveTo>
                  <a:pt x="0" y="0"/>
                </a:moveTo>
                <a:lnTo>
                  <a:pt x="1017651" y="0"/>
                </a:lnTo>
                <a:lnTo>
                  <a:pt x="1017651" y="1110533"/>
                </a:lnTo>
                <a:lnTo>
                  <a:pt x="0" y="1110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896665" y="3277123"/>
            <a:ext cx="1017651" cy="1110532"/>
          </a:xfrm>
          <a:custGeom>
            <a:avLst/>
            <a:gdLst/>
            <a:ahLst/>
            <a:cxnLst/>
            <a:rect r="r" b="b" t="t" l="l"/>
            <a:pathLst>
              <a:path h="1110532" w="1017651">
                <a:moveTo>
                  <a:pt x="0" y="0"/>
                </a:moveTo>
                <a:lnTo>
                  <a:pt x="1017651" y="0"/>
                </a:lnTo>
                <a:lnTo>
                  <a:pt x="1017651" y="1110533"/>
                </a:lnTo>
                <a:lnTo>
                  <a:pt x="0" y="1110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98100" y="5143500"/>
            <a:ext cx="11641667" cy="5143500"/>
          </a:xfrm>
          <a:custGeom>
            <a:avLst/>
            <a:gdLst/>
            <a:ahLst/>
            <a:cxnLst/>
            <a:rect r="r" b="b" t="t" l="l"/>
            <a:pathLst>
              <a:path h="5143500" w="11641667">
                <a:moveTo>
                  <a:pt x="0" y="0"/>
                </a:moveTo>
                <a:lnTo>
                  <a:pt x="11641666" y="0"/>
                </a:lnTo>
                <a:lnTo>
                  <a:pt x="1164166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07365" y="4163719"/>
            <a:ext cx="5082996" cy="3227366"/>
            <a:chOff x="0" y="0"/>
            <a:chExt cx="1338731" cy="850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8731" cy="850006"/>
            </a:xfrm>
            <a:custGeom>
              <a:avLst/>
              <a:gdLst/>
              <a:ahLst/>
              <a:cxnLst/>
              <a:rect r="r" b="b" t="t" l="l"/>
              <a:pathLst>
                <a:path h="850006" w="1338731">
                  <a:moveTo>
                    <a:pt x="77107" y="0"/>
                  </a:moveTo>
                  <a:lnTo>
                    <a:pt x="1261624" y="0"/>
                  </a:lnTo>
                  <a:cubicBezTo>
                    <a:pt x="1282074" y="0"/>
                    <a:pt x="1301687" y="8124"/>
                    <a:pt x="1316147" y="22584"/>
                  </a:cubicBezTo>
                  <a:cubicBezTo>
                    <a:pt x="1330608" y="37044"/>
                    <a:pt x="1338731" y="56657"/>
                    <a:pt x="1338731" y="77107"/>
                  </a:cubicBezTo>
                  <a:lnTo>
                    <a:pt x="1338731" y="772899"/>
                  </a:lnTo>
                  <a:cubicBezTo>
                    <a:pt x="1338731" y="793349"/>
                    <a:pt x="1330608" y="812961"/>
                    <a:pt x="1316147" y="827422"/>
                  </a:cubicBezTo>
                  <a:cubicBezTo>
                    <a:pt x="1301687" y="841882"/>
                    <a:pt x="1282074" y="850006"/>
                    <a:pt x="1261624" y="850006"/>
                  </a:cubicBezTo>
                  <a:lnTo>
                    <a:pt x="77107" y="850006"/>
                  </a:lnTo>
                  <a:cubicBezTo>
                    <a:pt x="34522" y="850006"/>
                    <a:pt x="0" y="815484"/>
                    <a:pt x="0" y="772899"/>
                  </a:cubicBezTo>
                  <a:lnTo>
                    <a:pt x="0" y="77107"/>
                  </a:lnTo>
                  <a:cubicBezTo>
                    <a:pt x="0" y="56657"/>
                    <a:pt x="8124" y="37044"/>
                    <a:pt x="22584" y="22584"/>
                  </a:cubicBezTo>
                  <a:cubicBezTo>
                    <a:pt x="37044" y="8124"/>
                    <a:pt x="56657" y="0"/>
                    <a:pt x="77107" y="0"/>
                  </a:cubicBezTo>
                  <a:close/>
                </a:path>
              </a:pathLst>
            </a:custGeom>
            <a:solidFill>
              <a:srgbClr val="E8FAFF"/>
            </a:solidFill>
            <a:ln w="219075" cap="rnd">
              <a:solidFill>
                <a:srgbClr val="F39227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38731" cy="888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328279" y="2292576"/>
            <a:ext cx="10931021" cy="6107708"/>
          </a:xfrm>
          <a:custGeom>
            <a:avLst/>
            <a:gdLst/>
            <a:ahLst/>
            <a:cxnLst/>
            <a:rect r="r" b="b" t="t" l="l"/>
            <a:pathLst>
              <a:path h="6107708" w="10931021">
                <a:moveTo>
                  <a:pt x="0" y="0"/>
                </a:moveTo>
                <a:lnTo>
                  <a:pt x="10931021" y="0"/>
                </a:lnTo>
                <a:lnTo>
                  <a:pt x="10931021" y="6107709"/>
                </a:lnTo>
                <a:lnTo>
                  <a:pt x="0" y="61077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88213" y="1480170"/>
            <a:ext cx="7908187" cy="112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7"/>
              </a:lnSpc>
            </a:pPr>
            <a:r>
              <a:rPr lang="en-US" sz="9667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WORK 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19983" y="4654570"/>
            <a:ext cx="4457758" cy="2245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1"/>
              </a:lnSpc>
              <a:spcBef>
                <a:spcPct val="0"/>
              </a:spcBef>
            </a:pPr>
            <a:r>
              <a:rPr lang="en-US" sz="219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User Interface Features</a:t>
            </a:r>
          </a:p>
          <a:p>
            <a:pPr algn="l">
              <a:lnSpc>
                <a:spcPts val="2541"/>
              </a:lnSpc>
              <a:spcBef>
                <a:spcPct val="0"/>
              </a:spcBef>
            </a:pPr>
            <a:r>
              <a:rPr lang="en-US" sz="219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✅ Smart Delay Prediction</a:t>
            </a:r>
          </a:p>
          <a:p>
            <a:pPr algn="l">
              <a:lnSpc>
                <a:spcPts val="2541"/>
              </a:lnSpc>
              <a:spcBef>
                <a:spcPct val="0"/>
              </a:spcBef>
            </a:pPr>
            <a:r>
              <a:rPr lang="en-US" sz="219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✅ Real-Time Travel Insights</a:t>
            </a:r>
          </a:p>
          <a:p>
            <a:pPr algn="l">
              <a:lnSpc>
                <a:spcPts val="2541"/>
              </a:lnSpc>
              <a:spcBef>
                <a:spcPct val="0"/>
              </a:spcBef>
            </a:pPr>
            <a:r>
              <a:rPr lang="en-US" sz="219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✅ Weather-Based Analysis</a:t>
            </a:r>
          </a:p>
          <a:p>
            <a:pPr algn="l">
              <a:lnSpc>
                <a:spcPts val="2541"/>
              </a:lnSpc>
              <a:spcBef>
                <a:spcPct val="0"/>
              </a:spcBef>
            </a:pPr>
            <a:r>
              <a:rPr lang="en-US" sz="219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✅ Traffic Congestion Monitoring</a:t>
            </a:r>
          </a:p>
          <a:p>
            <a:pPr algn="l">
              <a:lnSpc>
                <a:spcPts val="2541"/>
              </a:lnSpc>
              <a:spcBef>
                <a:spcPct val="0"/>
              </a:spcBef>
            </a:pPr>
            <a:r>
              <a:rPr lang="en-US" sz="219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✅ Sustainable Travel Recommendations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15970" y="4127465"/>
            <a:ext cx="14656059" cy="5130835"/>
            <a:chOff x="0" y="0"/>
            <a:chExt cx="3860032" cy="13513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60032" cy="1351331"/>
            </a:xfrm>
            <a:custGeom>
              <a:avLst/>
              <a:gdLst/>
              <a:ahLst/>
              <a:cxnLst/>
              <a:rect r="r" b="b" t="t" l="l"/>
              <a:pathLst>
                <a:path h="1351331" w="3860032">
                  <a:moveTo>
                    <a:pt x="26742" y="0"/>
                  </a:moveTo>
                  <a:lnTo>
                    <a:pt x="3833290" y="0"/>
                  </a:lnTo>
                  <a:cubicBezTo>
                    <a:pt x="3840383" y="0"/>
                    <a:pt x="3847185" y="2817"/>
                    <a:pt x="3852200" y="7833"/>
                  </a:cubicBezTo>
                  <a:cubicBezTo>
                    <a:pt x="3857215" y="12848"/>
                    <a:pt x="3860032" y="19650"/>
                    <a:pt x="3860032" y="26742"/>
                  </a:cubicBezTo>
                  <a:lnTo>
                    <a:pt x="3860032" y="1324589"/>
                  </a:lnTo>
                  <a:cubicBezTo>
                    <a:pt x="3860032" y="1339358"/>
                    <a:pt x="3848059" y="1351331"/>
                    <a:pt x="3833290" y="1351331"/>
                  </a:cubicBezTo>
                  <a:lnTo>
                    <a:pt x="26742" y="1351331"/>
                  </a:lnTo>
                  <a:cubicBezTo>
                    <a:pt x="11973" y="1351331"/>
                    <a:pt x="0" y="1339358"/>
                    <a:pt x="0" y="1324589"/>
                  </a:cubicBezTo>
                  <a:lnTo>
                    <a:pt x="0" y="26742"/>
                  </a:lnTo>
                  <a:cubicBezTo>
                    <a:pt x="0" y="11973"/>
                    <a:pt x="11973" y="0"/>
                    <a:pt x="26742" y="0"/>
                  </a:cubicBezTo>
                  <a:close/>
                </a:path>
              </a:pathLst>
            </a:custGeom>
            <a:solidFill>
              <a:srgbClr val="E8FAFF"/>
            </a:solidFill>
            <a:ln w="219075" cap="rnd">
              <a:solidFill>
                <a:srgbClr val="F3922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60032" cy="1389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15970" y="1487777"/>
            <a:ext cx="14656059" cy="2266463"/>
            <a:chOff x="0" y="0"/>
            <a:chExt cx="3860032" cy="596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60032" cy="596929"/>
            </a:xfrm>
            <a:custGeom>
              <a:avLst/>
              <a:gdLst/>
              <a:ahLst/>
              <a:cxnLst/>
              <a:rect r="r" b="b" t="t" l="l"/>
              <a:pathLst>
                <a:path h="596929" w="3860032">
                  <a:moveTo>
                    <a:pt x="26742" y="0"/>
                  </a:moveTo>
                  <a:lnTo>
                    <a:pt x="3833290" y="0"/>
                  </a:lnTo>
                  <a:cubicBezTo>
                    <a:pt x="3840383" y="0"/>
                    <a:pt x="3847185" y="2817"/>
                    <a:pt x="3852200" y="7833"/>
                  </a:cubicBezTo>
                  <a:cubicBezTo>
                    <a:pt x="3857215" y="12848"/>
                    <a:pt x="3860032" y="19650"/>
                    <a:pt x="3860032" y="26742"/>
                  </a:cubicBezTo>
                  <a:lnTo>
                    <a:pt x="3860032" y="570186"/>
                  </a:lnTo>
                  <a:cubicBezTo>
                    <a:pt x="3860032" y="577279"/>
                    <a:pt x="3857215" y="584081"/>
                    <a:pt x="3852200" y="589096"/>
                  </a:cubicBezTo>
                  <a:cubicBezTo>
                    <a:pt x="3847185" y="594111"/>
                    <a:pt x="3840383" y="596929"/>
                    <a:pt x="3833290" y="596929"/>
                  </a:cubicBezTo>
                  <a:lnTo>
                    <a:pt x="26742" y="596929"/>
                  </a:lnTo>
                  <a:cubicBezTo>
                    <a:pt x="11973" y="596929"/>
                    <a:pt x="0" y="584956"/>
                    <a:pt x="0" y="570186"/>
                  </a:cubicBezTo>
                  <a:lnTo>
                    <a:pt x="0" y="26742"/>
                  </a:lnTo>
                  <a:cubicBezTo>
                    <a:pt x="0" y="11973"/>
                    <a:pt x="11973" y="0"/>
                    <a:pt x="26742" y="0"/>
                  </a:cubicBezTo>
                  <a:close/>
                </a:path>
              </a:pathLst>
            </a:custGeom>
            <a:solidFill>
              <a:srgbClr val="E8FAFF"/>
            </a:solidFill>
            <a:ln w="219075" cap="rnd">
              <a:solidFill>
                <a:srgbClr val="F39227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60032" cy="635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27731" y="4821740"/>
            <a:ext cx="1326216" cy="1389370"/>
          </a:xfrm>
          <a:custGeom>
            <a:avLst/>
            <a:gdLst/>
            <a:ahLst/>
            <a:cxnLst/>
            <a:rect r="r" b="b" t="t" l="l"/>
            <a:pathLst>
              <a:path h="1389370" w="1326216">
                <a:moveTo>
                  <a:pt x="0" y="0"/>
                </a:moveTo>
                <a:lnTo>
                  <a:pt x="1326217" y="0"/>
                </a:lnTo>
                <a:lnTo>
                  <a:pt x="1326217" y="1389370"/>
                </a:lnTo>
                <a:lnTo>
                  <a:pt x="0" y="13893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55906" y="2288147"/>
            <a:ext cx="14376187" cy="96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9"/>
              </a:lnSpc>
            </a:pPr>
            <a:r>
              <a:rPr lang="en-US" sz="8268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Conclusion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98264" y="4695184"/>
            <a:ext cx="11265946" cy="440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The Sustainable Public Transport Assistant demonstrates how Artificial Intelligence and Machine Learning can be used to improve public transportation systems.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By predicting delays and providing intelligent travel insights, the project: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Enhances commuter experience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Encourages sustainable transportation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Reduces environmental impact</a:t>
            </a:r>
          </a:p>
          <a:p>
            <a:pPr algn="just" marL="592782" indent="-296391" lvl="1">
              <a:lnSpc>
                <a:spcPts val="318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Supports smart and sustainable cities</a:t>
            </a:r>
          </a:p>
          <a:p>
            <a:pPr algn="just">
              <a:lnSpc>
                <a:spcPts val="3184"/>
              </a:lnSpc>
            </a:pPr>
            <a:r>
              <a:rPr lang="en-US" sz="2745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"Using AI for a Smarter, Greener, and More Sustainable Future."</a:t>
            </a:r>
          </a:p>
          <a:p>
            <a:pPr algn="just">
              <a:lnSpc>
                <a:spcPts val="3184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145813" y="7054771"/>
            <a:ext cx="1326216" cy="1389370"/>
          </a:xfrm>
          <a:custGeom>
            <a:avLst/>
            <a:gdLst/>
            <a:ahLst/>
            <a:cxnLst/>
            <a:rect r="r" b="b" t="t" l="l"/>
            <a:pathLst>
              <a:path h="1389370" w="1326216">
                <a:moveTo>
                  <a:pt x="0" y="0"/>
                </a:moveTo>
                <a:lnTo>
                  <a:pt x="1326217" y="0"/>
                </a:lnTo>
                <a:lnTo>
                  <a:pt x="1326217" y="1389369"/>
                </a:lnTo>
                <a:lnTo>
                  <a:pt x="0" y="13893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639381" y="5143500"/>
            <a:ext cx="11641667" cy="5143500"/>
          </a:xfrm>
          <a:custGeom>
            <a:avLst/>
            <a:gdLst/>
            <a:ahLst/>
            <a:cxnLst/>
            <a:rect r="r" b="b" t="t" l="l"/>
            <a:pathLst>
              <a:path h="5143500" w="11641667">
                <a:moveTo>
                  <a:pt x="11641666" y="0"/>
                </a:moveTo>
                <a:lnTo>
                  <a:pt x="0" y="0"/>
                </a:lnTo>
                <a:lnTo>
                  <a:pt x="0" y="5143500"/>
                </a:lnTo>
                <a:lnTo>
                  <a:pt x="11641666" y="5143500"/>
                </a:lnTo>
                <a:lnTo>
                  <a:pt x="1164166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333602" y="1695192"/>
            <a:ext cx="3913664" cy="3091475"/>
            <a:chOff x="0" y="0"/>
            <a:chExt cx="812800" cy="6420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642046"/>
            </a:xfrm>
            <a:custGeom>
              <a:avLst/>
              <a:gdLst/>
              <a:ahLst/>
              <a:cxnLst/>
              <a:rect r="r" b="b" t="t" l="l"/>
              <a:pathLst>
                <a:path h="642046" w="812800">
                  <a:moveTo>
                    <a:pt x="406400" y="0"/>
                  </a:moveTo>
                  <a:cubicBezTo>
                    <a:pt x="181951" y="0"/>
                    <a:pt x="0" y="143727"/>
                    <a:pt x="0" y="321023"/>
                  </a:cubicBezTo>
                  <a:cubicBezTo>
                    <a:pt x="0" y="498319"/>
                    <a:pt x="181951" y="642046"/>
                    <a:pt x="406400" y="642046"/>
                  </a:cubicBezTo>
                  <a:cubicBezTo>
                    <a:pt x="630849" y="642046"/>
                    <a:pt x="812800" y="498319"/>
                    <a:pt x="812800" y="321023"/>
                  </a:cubicBezTo>
                  <a:cubicBezTo>
                    <a:pt x="812800" y="14372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FAFF"/>
            </a:solidFill>
            <a:ln w="85725" cap="sq">
              <a:solidFill>
                <a:srgbClr val="126AAD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2092"/>
              <a:ext cx="660400" cy="55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279162" y="1918200"/>
            <a:ext cx="9437875" cy="255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71"/>
              </a:lnSpc>
            </a:pPr>
            <a:r>
              <a:rPr lang="en-US" sz="14908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Thank You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63473" y="2653110"/>
            <a:ext cx="3653921" cy="1251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7"/>
              </a:lnSpc>
            </a:pPr>
            <a:r>
              <a:rPr lang="en-US" b="true" sz="3399">
                <a:solidFill>
                  <a:srgbClr val="000000"/>
                </a:solidFill>
                <a:latin typeface="Inclusive Sans Bold"/>
                <a:ea typeface="Inclusive Sans Bold"/>
                <a:cs typeface="Inclusive Sans Bold"/>
                <a:sym typeface="Inclusive Sans Bold"/>
              </a:rPr>
              <a:t>Presented by </a:t>
            </a:r>
          </a:p>
          <a:p>
            <a:pPr algn="ctr">
              <a:lnSpc>
                <a:spcPts val="3297"/>
              </a:lnSpc>
            </a:pPr>
            <a:r>
              <a:rPr lang="en-US" b="true" sz="3399">
                <a:solidFill>
                  <a:srgbClr val="000000"/>
                </a:solidFill>
                <a:latin typeface="Inclusive Sans Bold"/>
                <a:ea typeface="Inclusive Sans Bold"/>
                <a:cs typeface="Inclusive Sans Bold"/>
                <a:sym typeface="Inclusive Sans Bold"/>
              </a:rPr>
              <a:t>K. Brajesh Sheguware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DAHNlclSMLQ</dc:identifier>
  <dcterms:modified xsi:type="dcterms:W3CDTF">2011-08-01T06:04:30Z</dcterms:modified>
  <cp:revision>1</cp:revision>
  <dc:title>INTERNSHIP</dc:title>
</cp:coreProperties>
</file>